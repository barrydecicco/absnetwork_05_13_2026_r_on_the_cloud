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osit.cloud" TargetMode="Externa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BarryDeCicco/ABSNetwork_05_13_2026_R_on_the_Cloud/blob/main/Connecting_Posit_Cloud_to_GitHub_SSH.docx" TargetMode="External" /><Relationship Id="rId3" Type="http://schemas.openxmlformats.org/officeDocument/2006/relationships/hyperlink" Target="https://github.com/BarryDeCicco/ABSNetwork_05_13_2026_R_on_the_Cloud/blob/main/Connecting_Posit_Cloud_to_GitHub_Using_PAT.docx"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posit.co/cloud/" TargetMode="External" /><Relationship Id="rId3" Type="http://schemas.openxmlformats.org/officeDocument/2006/relationships/hyperlink" Target="https://docs.posit.co/cloud/get_started/" TargetMode="External" /><Relationship Id="rId4" Type="http://schemas.openxmlformats.org/officeDocument/2006/relationships/hyperlink" Target="https://docs.posit.co/cloud/guide/projects/" TargetMode="External" /><Relationship Id="rId5" Type="http://schemas.openxmlformats.org/officeDocument/2006/relationships/hyperlink" Target="https://docs.posit.co/cloud/whats_new/" TargetMode="External" /><Relationship Id="rId6" Type="http://schemas.openxmlformats.org/officeDocument/2006/relationships/hyperlink" Target="https://posit.cloud/learn/recipes" TargetMode="External" /><Relationship Id="rId7" Type="http://schemas.openxmlformats.org/officeDocument/2006/relationships/hyperlink" Target="https://posit.co/resources/cheatsheets" TargetMode="External" /><Relationship Id="rId8" Type="http://schemas.openxmlformats.org/officeDocument/2006/relationships/hyperlink" Target="https://forum.posit.co/c/posit-professional-hosted/posit-cloud/14"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BarryDeCicco/ABSNetwork_05_13_2026_R_on_the_Cloud/blob/main/Connecting_Posit_Cloud_to_GitHub_SSH.docx" TargetMode="External" /><Relationship Id="rId3" Type="http://schemas.openxmlformats.org/officeDocument/2006/relationships/hyperlink" Target="https://github.com/BarryDeCicco/ABSNetwork_05_13_2026_R_on_the_Cloud/blob/main/Connecting_Posit_Cloud_to_GitHub_Using_PAT.docx"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BarryDeCicco/ABSNetwork_05_13_2026_R_on_the_Cloud"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Posit Cloud - R on the Web</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ABS Network, May 13, 2026</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Posit Cloud</a:t>
            </a:r>
          </a:p>
        </p:txBody>
      </p:sp>
      <p:sp>
        <p:nvSpPr>
          <p:cNvPr id="3" name="Content Placeholder 2"/>
          <p:cNvSpPr>
            <a:spLocks noGrp="1"/>
          </p:cNvSpPr>
          <p:nvPr>
            <p:ph idx="1"/>
          </p:nvPr>
        </p:nvSpPr>
        <p:spPr/>
        <p:txBody>
          <a:bodyPr/>
          <a:lstStyle/>
          <a:p>
            <a:pPr lvl="0" indent="0" marL="0">
              <a:buNone/>
            </a:pPr>
            <a:r>
              <a:rPr/>
              <a:t>Posit Cloud allows you to run RStudio projects completely on the web, with no local installations needed. You can upload and download files and data sets to and from your local computer.</a:t>
            </a:r>
          </a:p>
          <a:p>
            <a:pPr lvl="0" indent="0" marL="0">
              <a:buNone/>
            </a:pPr>
            <a:r>
              <a:rPr/>
              <a:t>You can also share projects with others, which allows collaboration, and makes teaching classes far easier. The students can start with the same setup, saving setup time.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Getting Posit Cloud</a:t>
            </a:r>
          </a:p>
        </p:txBody>
      </p:sp>
      <p:sp>
        <p:nvSpPr>
          <p:cNvPr id="4" name="Text Placeholder 3"/>
          <p:cNvSpPr>
            <a:spLocks noGrp="1"/>
          </p:cNvSpPr>
          <p:nvPr>
            <p:ph idx="2" sz="half" type="body"/>
          </p:nvPr>
        </p:nvSpPr>
        <p:spPr/>
        <p:txBody>
          <a:bodyPr/>
          <a:lstStyle/>
          <a:p>
            <a:pPr lvl="0"/>
            <a:r>
              <a:rPr/>
              <a:t>Go to </a:t>
            </a:r>
            <a:r>
              <a:rPr>
                <a:hlinkClick r:id="rId2"/>
              </a:rPr>
              <a:t>Posit.cloud</a:t>
            </a:r>
          </a:p>
          <a:p>
            <a:pPr lvl="0"/>
            <a:r>
              <a:rPr/>
              <a:t>Sign up for a free account.</a:t>
            </a:r>
          </a:p>
          <a:p>
            <a:pPr lvl="0" indent="0" marL="0">
              <a:buNone/>
            </a:pPr>
            <a:r>
              <a:rPr/>
              <a:t>You will see your workspace (mine is full; yours will be empty):</a:t>
            </a:r>
          </a:p>
        </p:txBody>
      </p:sp>
      <p:pic>
        <p:nvPicPr>
          <p:cNvPr descr="Workspace_Screenshot.png" id="0" name="Picture 1"/>
          <p:cNvPicPr>
            <a:picLocks noGrp="1" noChangeAspect="1"/>
          </p:cNvPicPr>
          <p:nvPr/>
        </p:nvPicPr>
        <p:blipFill>
          <a:blip r:embed="rId3"/>
          <a:stretch>
            <a:fillRect/>
          </a:stretch>
        </p:blipFill>
        <p:spPr bwMode="auto">
          <a:xfrm>
            <a:off x="3568700" y="1143000"/>
            <a:ext cx="5105400" cy="25146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Creating a Project from Github</a:t>
            </a:r>
          </a:p>
        </p:txBody>
      </p:sp>
      <p:sp>
        <p:nvSpPr>
          <p:cNvPr id="4" name="Text Placeholder 3"/>
          <p:cNvSpPr>
            <a:spLocks noGrp="1"/>
          </p:cNvSpPr>
          <p:nvPr>
            <p:ph idx="2" sz="half" type="body"/>
          </p:nvPr>
        </p:nvSpPr>
        <p:spPr/>
        <p:txBody>
          <a:bodyPr/>
          <a:lstStyle/>
          <a:p>
            <a:pPr lvl="0" indent="0" marL="0">
              <a:buNone/>
            </a:pPr>
            <a:r>
              <a:rPr/>
              <a:t>You can create a project from a Github repository, to get all of the advantages of Github in addition to those of Posit Cloud:</a:t>
            </a:r>
          </a:p>
        </p:txBody>
      </p:sp>
      <p:pic>
        <p:nvPicPr>
          <p:cNvPr descr="New_Project_from_Github.png" id="0" name="Picture 1"/>
          <p:cNvPicPr>
            <a:picLocks noGrp="1" noChangeAspect="1"/>
          </p:cNvPicPr>
          <p:nvPr/>
        </p:nvPicPr>
        <p:blipFill>
          <a:blip r:embed="rId2"/>
          <a:stretch>
            <a:fillRect/>
          </a:stretch>
        </p:blipFill>
        <p:spPr bwMode="auto">
          <a:xfrm>
            <a:off x="3568700" y="1168400"/>
            <a:ext cx="5105400" cy="2438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Connecting to Github - SSH and PAT</a:t>
            </a:r>
          </a:p>
        </p:txBody>
      </p:sp>
      <p:sp>
        <p:nvSpPr>
          <p:cNvPr id="3" name="Content Placeholder 2"/>
          <p:cNvSpPr>
            <a:spLocks noGrp="1"/>
          </p:cNvSpPr>
          <p:nvPr>
            <p:ph idx="1"/>
          </p:nvPr>
        </p:nvSpPr>
        <p:spPr/>
        <p:txBody>
          <a:bodyPr/>
          <a:lstStyle/>
          <a:p>
            <a:pPr lvl="0" indent="0" marL="0">
              <a:buNone/>
            </a:pPr>
            <a:r>
              <a:rPr/>
              <a:t>It’s good to be able to push changes to the repository. I have included documentation of two methods of connecting which allow the user to push changes (they will be made available later):</a:t>
            </a:r>
          </a:p>
          <a:p>
            <a:pPr lvl="0"/>
            <a:r>
              <a:rPr>
                <a:hlinkClick r:id="rId2"/>
              </a:rPr>
              <a:t>Connecting_Posit_Cloud_to_GitHub_SSH.docx</a:t>
            </a:r>
          </a:p>
          <a:p>
            <a:pPr lvl="0"/>
            <a:r>
              <a:rPr>
                <a:hlinkClick r:id="rId3"/>
              </a:rPr>
              <a:t>Connecting_Posit_Cloud_to_GitHub_Using_PAT.docx</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Navigating the interface:</a:t>
            </a:r>
          </a:p>
        </p:txBody>
      </p:sp>
      <p:sp>
        <p:nvSpPr>
          <p:cNvPr id="3" name="Content Placeholder 2"/>
          <p:cNvSpPr>
            <a:spLocks noGrp="1"/>
          </p:cNvSpPr>
          <p:nvPr>
            <p:ph idx="1"/>
          </p:nvPr>
        </p:nvSpPr>
        <p:spPr/>
        <p:txBody>
          <a:bodyPr/>
          <a:lstStyle/>
          <a:p>
            <a:pPr lvl="0" indent="0" marL="0">
              <a:buNone/>
            </a:pPr>
            <a:r>
              <a:rPr/>
              <a:t>The interface is very much like the desktop version of RStudio, with a few changes:</a:t>
            </a:r>
          </a:p>
          <a:p>
            <a:pPr lvl="0"/>
            <a:r>
              <a:rPr/>
              <a:t>The lower right panel has commands to upload and export files.</a:t>
            </a:r>
          </a:p>
          <a:p>
            <a:pPr lvl="0"/>
            <a:r>
              <a:rPr/>
              <a:t>The session is running on a Linux box somewhere, and not your PC; you can issue the command ‘uname -a’ to see information about this linux box. Also, the path is ‘/cloud/project’,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Importing files:</a:t>
            </a:r>
          </a:p>
        </p:txBody>
      </p:sp>
      <p:sp>
        <p:nvSpPr>
          <p:cNvPr id="4" name="Text Placeholder 3"/>
          <p:cNvSpPr>
            <a:spLocks noGrp="1"/>
          </p:cNvSpPr>
          <p:nvPr>
            <p:ph idx="2" sz="half" type="body"/>
          </p:nvPr>
        </p:nvSpPr>
        <p:spPr/>
        <p:txBody>
          <a:bodyPr/>
          <a:lstStyle/>
          <a:p>
            <a:pPr lvl="0" indent="0" marL="0">
              <a:buNone/>
            </a:pPr>
            <a:r>
              <a:rPr/>
              <a:t>To get files from your PC to the project, use the ‘Upload’ button, and select your file:</a:t>
            </a:r>
          </a:p>
        </p:txBody>
      </p:sp>
      <p:pic>
        <p:nvPicPr>
          <p:cNvPr descr="Upload_Files_Screenshot.png" id="0" name="Picture 1"/>
          <p:cNvPicPr>
            <a:picLocks noGrp="1" noChangeAspect="1"/>
          </p:cNvPicPr>
          <p:nvPr/>
        </p:nvPicPr>
        <p:blipFill>
          <a:blip r:embed="rId2"/>
          <a:stretch>
            <a:fillRect/>
          </a:stretch>
        </p:blipFill>
        <p:spPr bwMode="auto">
          <a:xfrm>
            <a:off x="3568700" y="914400"/>
            <a:ext cx="5105400" cy="2971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Exporting files:</a:t>
            </a:r>
          </a:p>
        </p:txBody>
      </p:sp>
      <p:sp>
        <p:nvSpPr>
          <p:cNvPr id="4" name="Text Placeholder 3"/>
          <p:cNvSpPr>
            <a:spLocks noGrp="1"/>
          </p:cNvSpPr>
          <p:nvPr>
            <p:ph idx="2" sz="half" type="body"/>
          </p:nvPr>
        </p:nvSpPr>
        <p:spPr/>
        <p:txBody>
          <a:bodyPr/>
          <a:lstStyle/>
          <a:p>
            <a:pPr lvl="0" indent="0" marL="0">
              <a:buNone/>
            </a:pPr>
            <a:r>
              <a:rPr/>
              <a:t>To get files from your PC to the project, use the ‘Upload’ button, and select your file:</a:t>
            </a:r>
          </a:p>
        </p:txBody>
      </p:sp>
      <p:pic>
        <p:nvPicPr>
          <p:cNvPr descr="Export_Files_Screenshot.png" id="0" name="Picture 1"/>
          <p:cNvPicPr>
            <a:picLocks noGrp="1" noChangeAspect="1"/>
          </p:cNvPicPr>
          <p:nvPr/>
        </p:nvPicPr>
        <p:blipFill>
          <a:blip r:embed="rId2"/>
          <a:stretch>
            <a:fillRect/>
          </a:stretch>
        </p:blipFill>
        <p:spPr bwMode="auto">
          <a:xfrm>
            <a:off x="3568700" y="1016000"/>
            <a:ext cx="5105400" cy="2743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Posit Cloud Documentation</a:t>
            </a:r>
            <a:r>
              <a:rPr/>
              <a:t> contains sections:</a:t>
            </a:r>
          </a:p>
          <a:p>
            <a:pPr lvl="0"/>
            <a:r>
              <a:rPr>
                <a:hlinkClick r:id="rId3"/>
              </a:rPr>
              <a:t>Get Started with Posit Cloud</a:t>
            </a:r>
          </a:p>
          <a:p>
            <a:pPr lvl="0"/>
            <a:r>
              <a:rPr>
                <a:hlinkClick r:id="rId4"/>
              </a:rPr>
              <a:t>Explore the Posit Cloud Guide</a:t>
            </a:r>
          </a:p>
          <a:p>
            <a:pPr lvl="0"/>
            <a:r>
              <a:rPr>
                <a:hlinkClick r:id="rId5"/>
              </a:rPr>
              <a:t>See What’s New on Posit Cloud</a:t>
            </a:r>
          </a:p>
          <a:p>
            <a:pPr lvl="0"/>
            <a:r>
              <a:rPr>
                <a:hlinkClick r:id="rId6"/>
              </a:rPr>
              <a:t>Sample Recipes on Posit Cloud</a:t>
            </a:r>
          </a:p>
          <a:p>
            <a:pPr lvl="0"/>
            <a:r>
              <a:rPr>
                <a:hlinkClick r:id="rId7"/>
              </a:rPr>
              <a:t>Peek at Cheatsheets for Your Posit Cloud Projects</a:t>
            </a:r>
          </a:p>
          <a:p>
            <a:pPr lvl="0"/>
            <a:r>
              <a:rPr>
                <a:hlinkClick r:id="rId8"/>
              </a:rPr>
              <a:t>Join the Posit Cloud Community</a:t>
            </a:r>
          </a:p>
          <a:p>
            <a:pPr lvl="0"/>
            <a:r>
              <a:rPr/>
              <a:t>AI: I used Claude AI for much of this presentation (‘how do I xxx in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 (continued):</a:t>
            </a:r>
          </a:p>
        </p:txBody>
      </p:sp>
      <p:sp>
        <p:nvSpPr>
          <p:cNvPr id="3" name="Content Placeholder 2"/>
          <p:cNvSpPr>
            <a:spLocks noGrp="1"/>
          </p:cNvSpPr>
          <p:nvPr>
            <p:ph idx="1"/>
          </p:nvPr>
        </p:nvSpPr>
        <p:spPr/>
        <p:txBody>
          <a:bodyPr/>
          <a:lstStyle/>
          <a:p>
            <a:pPr lvl="0"/>
            <a:r>
              <a:rPr/>
              <a:t>Connecting to Github:</a:t>
            </a:r>
          </a:p>
          <a:p>
            <a:pPr lvl="0"/>
            <a:r>
              <a:rPr>
                <a:hlinkClick r:id="rId2"/>
              </a:rPr>
              <a:t>Connecting_Posit_Cloud_to_GitHub_SSH.docx</a:t>
            </a:r>
          </a:p>
          <a:p>
            <a:pPr lvl="0"/>
            <a:r>
              <a:rPr>
                <a:hlinkClick r:id="rId3"/>
              </a:rPr>
              <a:t>Connecting_Posit_Cloud_to_GitHub_Using_PAT.docx</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a:t>
            </a:r>
          </a:p>
        </p:txBody>
      </p:sp>
      <p:sp>
        <p:nvSpPr>
          <p:cNvPr id="3" name="Content Placeholder 2"/>
          <p:cNvSpPr>
            <a:spLocks noGrp="1"/>
          </p:cNvSpPr>
          <p:nvPr>
            <p:ph idx="1"/>
          </p:nvPr>
        </p:nvSpPr>
        <p:spPr/>
        <p:txBody>
          <a:bodyPr/>
          <a:lstStyle/>
          <a:p>
            <a:pPr lvl="0" indent="0" marL="0">
              <a:buNone/>
            </a:pPr>
            <a:r>
              <a:rPr/>
              <a:t>This presentation is in a public Github repository:</a:t>
            </a:r>
          </a:p>
          <a:p>
            <a:pPr lvl="0"/>
            <a:r>
              <a:rPr>
                <a:hlinkClick r:id="rId2"/>
              </a:rPr>
              <a:t>ABSNetwork_05_13_2026_R_on_the_Cloud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 Cloud - R on the Web</dc:title>
  <dc:creator/>
  <cp:keywords/>
  <dcterms:created xsi:type="dcterms:W3CDTF">2026-05-13T14:26:30Z</dcterms:created>
  <dcterms:modified xsi:type="dcterms:W3CDTF">2026-05-13T14:26:30Z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ackground-color">
    <vt:lpwstr>#87CEEB</vt:lpwstr>
  </property>
  <property fmtid="{D5CDD505-2E9C-101B-9397-08002B2CF9AE}" pid="3" name="biblio-config">
    <vt:lpwstr>True</vt:lpwstr>
  </property>
  <property fmtid="{D5CDD505-2E9C-101B-9397-08002B2CF9AE}" pid="4" name="footer">
    <vt:lpwstr>ABS Network | May 2026</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ABS Network, May 13, 2026</vt:lpwstr>
  </property>
  <property fmtid="{D5CDD505-2E9C-101B-9397-08002B2CF9AE}" pid="10" name="theme">
    <vt:lpwstr>default</vt:lpwstr>
  </property>
  <property fmtid="{D5CDD505-2E9C-101B-9397-08002B2CF9AE}" pid="11" name="toc-title">
    <vt:lpwstr>Table of contents</vt:lpwstr>
  </property>
</Properties>
</file>